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4" r:id="rId2"/>
    <p:sldId id="270" r:id="rId3"/>
    <p:sldId id="275" r:id="rId4"/>
    <p:sldId id="276" r:id="rId5"/>
    <p:sldId id="277" r:id="rId6"/>
  </p:sldIdLst>
  <p:sldSz cx="9144000" cy="6858000" type="screen4x3"/>
  <p:notesSz cx="6797675" cy="99282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B64E"/>
    <a:srgbClr val="285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9"/>
    <p:restoredTop sz="94703"/>
  </p:normalViewPr>
  <p:slideViewPr>
    <p:cSldViewPr showGuides="1">
      <p:cViewPr varScale="1">
        <p:scale>
          <a:sx n="109" d="100"/>
          <a:sy n="109" d="100"/>
        </p:scale>
        <p:origin x="150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6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6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E0B3D628-4229-4DE3-BEDB-ABD22C65DF45}" type="datetimeFigureOut">
              <a:rPr lang="pt-BR" smtClean="0"/>
              <a:t>01/04/2022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30093"/>
            <a:ext cx="2945659" cy="49813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30093"/>
            <a:ext cx="2945659" cy="49813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FF7ADED5-3154-414C-AFFD-61B889662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12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38" y="692696"/>
            <a:ext cx="6943946" cy="4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85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74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26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6425952"/>
            <a:ext cx="9144000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857A5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292080" y="64533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DESENVOLVIMENTO SOCIAL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414090" y="1033454"/>
            <a:ext cx="81369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DDE40D-4D91-714B-A57F-0B39B1A117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t="31055" r="16138" b="31055"/>
          <a:stretch/>
        </p:blipFill>
        <p:spPr>
          <a:xfrm>
            <a:off x="6516216" y="188639"/>
            <a:ext cx="2136886" cy="8448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14090" y="461066"/>
            <a:ext cx="5886102" cy="62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pt-BR" sz="2000" b="1" dirty="0" smtClean="0">
                <a:latin typeface="Verdana" pitchFamily="34" charset="0"/>
              </a:rPr>
              <a:t>SISTEMA OU PORTAL RECOMEÇO-SP</a:t>
            </a:r>
            <a:endParaRPr lang="en-US" altLang="pt-BR" sz="2000" b="1" dirty="0">
              <a:latin typeface="Verdana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10725" y="1387572"/>
            <a:ext cx="83343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CADASTRO POR PERFIL:</a:t>
            </a:r>
          </a:p>
          <a:p>
            <a:endParaRPr lang="pt-BR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/>
              <a:t>PERFIS DA EQUIPE COED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/>
              <a:t>PERFIS DA EQUIPE DA OSC CELEBRANTE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/>
              <a:t>PERFIL DAS PORTAS DE ENTRADA QUE PODEM SER UNIDADES DE SAÚDE DOS MUNICÍPIOS (UBS, CAPS, Secretaria Municipal de Saúde)</a:t>
            </a:r>
          </a:p>
          <a:p>
            <a:endParaRPr lang="pt-BR" sz="1400" dirty="0" smtClean="0"/>
          </a:p>
          <a:p>
            <a:r>
              <a:rPr lang="pt-BR" sz="1400" dirty="0" smtClean="0"/>
              <a:t>4.     PERFIL DAS UNIDADE DE SAÚDE DO ESTADO QUE ATUALMENTE É O CRATOD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/>
          </a:p>
          <a:p>
            <a:r>
              <a:rPr lang="pt-BR" sz="1400" dirty="0" smtClean="0"/>
              <a:t>5.     PERFIS DAS OSC’s EXECUTORAS que atualmente são Comunidades Terapêuticas e Repúblicas</a:t>
            </a:r>
          </a:p>
          <a:p>
            <a:endParaRPr lang="pt-BR" sz="1400" dirty="0"/>
          </a:p>
          <a:p>
            <a:r>
              <a:rPr lang="pt-BR" sz="1400" dirty="0" smtClean="0"/>
              <a:t>6.      PERFIS DA OSC EXECUTORA - Casa de Passagem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13728" y="4573317"/>
            <a:ext cx="7623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CADA FICHA CADASTRAL DEVERÁ </a:t>
            </a:r>
            <a:r>
              <a:rPr lang="pt-BR" sz="1400" dirty="0" smtClean="0"/>
              <a:t>CONTER NO FORMULÁRIO DE ACESSO: </a:t>
            </a:r>
            <a:endParaRPr lang="pt-BR" sz="1400" dirty="0" smtClean="0"/>
          </a:p>
          <a:p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Dados pessoais (nome completo, nome </a:t>
            </a:r>
            <a:r>
              <a:rPr lang="pt-BR" sz="1400" dirty="0" smtClean="0"/>
              <a:t>social (se houver), </a:t>
            </a:r>
            <a:r>
              <a:rPr lang="pt-BR" sz="1400" dirty="0" smtClean="0"/>
              <a:t>data de nascimento, nome da mãe, CPF, </a:t>
            </a:r>
            <a:r>
              <a:rPr lang="pt-BR" sz="1400" dirty="0" smtClean="0"/>
              <a:t>RG, telefone, endereço, e-mail pessoal ).</a:t>
            </a:r>
            <a:endParaRPr lang="pt-B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Dados Institucionais (Cargo e/ou função, </a:t>
            </a:r>
            <a:r>
              <a:rPr lang="pt-BR" sz="1400" dirty="0" smtClean="0"/>
              <a:t>tipo de unidade</a:t>
            </a:r>
            <a:r>
              <a:rPr lang="pt-BR" sz="1400" dirty="0" smtClean="0"/>
              <a:t>, município do local de trabalho, </a:t>
            </a:r>
            <a:r>
              <a:rPr lang="pt-BR" sz="1400" dirty="0" smtClean="0"/>
              <a:t>endereço do local de trabalho, telefone,  setor, e-mail </a:t>
            </a:r>
            <a:r>
              <a:rPr lang="pt-BR" sz="1400" dirty="0" smtClean="0"/>
              <a:t>institucional).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888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6425952"/>
            <a:ext cx="9144000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857A5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292080" y="64533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DESENVOLVIMENTO SOCIAL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414090" y="1033454"/>
            <a:ext cx="81369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DDE40D-4D91-714B-A57F-0B39B1A117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t="31055" r="16138" b="31055"/>
          <a:stretch/>
        </p:blipFill>
        <p:spPr>
          <a:xfrm>
            <a:off x="6516216" y="188639"/>
            <a:ext cx="2136886" cy="8448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14090" y="461066"/>
            <a:ext cx="5886102" cy="62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pt-BR" sz="2000" b="1" dirty="0" smtClean="0">
                <a:latin typeface="Verdana" pitchFamily="34" charset="0"/>
              </a:rPr>
              <a:t>SISTEMA OU PORTAL RECOMEÇO-SP</a:t>
            </a:r>
            <a:endParaRPr lang="en-US" altLang="pt-BR" sz="2000" b="1" dirty="0">
              <a:latin typeface="Verdana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04813" y="1128593"/>
            <a:ext cx="8334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SISTEMA DE ACESSO ÀS VAGAS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Cadastro de vagas geral e disponível em cada unidade.</a:t>
            </a:r>
          </a:p>
          <a:p>
            <a:r>
              <a:rPr lang="pt-BR" sz="1400" dirty="0" smtClean="0"/>
              <a:t>OBS: as vagas são referenciadas para a unidade administrativa (por exemplo: a unidade de São José do Rio Preto somente atende aos municípios da região administrativa de São José do Rio Preto).</a:t>
            </a:r>
            <a:endParaRPr lang="pt-BR" sz="1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346459" y="2126340"/>
            <a:ext cx="78303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QUEM ACESSA?</a:t>
            </a:r>
          </a:p>
          <a:p>
            <a:r>
              <a:rPr lang="pt-BR" sz="1400" dirty="0" smtClean="0"/>
              <a:t>Técnicos de todos os municípios paulistas sendo uma média de 2 técnicos por município.</a:t>
            </a:r>
          </a:p>
          <a:p>
            <a:r>
              <a:rPr lang="pt-BR" sz="1400" dirty="0" smtClean="0"/>
              <a:t>Técnicos da celebrante – (uma unidade) e 4 técnicos.</a:t>
            </a:r>
          </a:p>
          <a:p>
            <a:r>
              <a:rPr lang="pt-BR" sz="1400" dirty="0" smtClean="0"/>
              <a:t>Técnicos das OSC’s Executoras.</a:t>
            </a:r>
          </a:p>
          <a:p>
            <a:r>
              <a:rPr lang="pt-BR" sz="1400" dirty="0" smtClean="0"/>
              <a:t>Técnicos da COED – perfil de cadastro e consulta.</a:t>
            </a:r>
          </a:p>
          <a:p>
            <a:endParaRPr lang="pt-BR" dirty="0" smtClean="0"/>
          </a:p>
        </p:txBody>
      </p:sp>
      <p:sp>
        <p:nvSpPr>
          <p:cNvPr id="8" name="CaixaDeTexto 7"/>
          <p:cNvSpPr txBox="1"/>
          <p:nvPr/>
        </p:nvSpPr>
        <p:spPr>
          <a:xfrm>
            <a:off x="346459" y="4182784"/>
            <a:ext cx="77768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DADOS QUE DEVE CONTER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Número de vagas disponíveis por unidade;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Número de vagas reservadas;</a:t>
            </a:r>
          </a:p>
          <a:p>
            <a:r>
              <a:rPr lang="pt-BR" sz="1400" dirty="0" smtClean="0"/>
              <a:t>OBS: deve ter capacidade de upload de documentos (relatórios, exames médicos e documentos pessoais e estes documentos devem migrar para o prontuário).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Demanda reprimida (número de casos de vagas solicitadas e não atendidas).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Demanda com mais de 15 dias de espera para acesso à vaga.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/>
              <a:t>Casos reincidência.</a:t>
            </a:r>
            <a:endParaRPr lang="pt-BR" sz="14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32431" y="3345776"/>
            <a:ext cx="762357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QUEM CADASTRA?</a:t>
            </a:r>
          </a:p>
          <a:p>
            <a:r>
              <a:rPr lang="pt-BR" sz="1400" dirty="0" smtClean="0"/>
              <a:t>COED cadastra os técnicos municipais e estaduais, Casa de Passagem e OSC Celebrante.</a:t>
            </a:r>
          </a:p>
          <a:p>
            <a:r>
              <a:rPr lang="pt-BR" sz="1400" dirty="0" smtClean="0"/>
              <a:t>OSC Celebrante cadastra os técnicos das OSC’s Executoras (Comunidades Terapêuticas e Repúblicas)</a:t>
            </a:r>
          </a:p>
          <a:p>
            <a:endParaRPr lang="pt-BR" sz="14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996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6425952"/>
            <a:ext cx="9144000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857A5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292080" y="64533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DESENVOLVIMENTO SOCIAL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414090" y="1033454"/>
            <a:ext cx="81369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DDE40D-4D91-714B-A57F-0B39B1A117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t="31055" r="16138" b="31055"/>
          <a:stretch/>
        </p:blipFill>
        <p:spPr>
          <a:xfrm>
            <a:off x="6516216" y="188639"/>
            <a:ext cx="2136886" cy="8448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14090" y="461066"/>
            <a:ext cx="5886102" cy="62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pt-BR" sz="2000" b="1" dirty="0" smtClean="0">
                <a:latin typeface="Verdana" pitchFamily="34" charset="0"/>
              </a:rPr>
              <a:t>SISTEMA OU PORTAL RECOMEÇO-SP</a:t>
            </a:r>
            <a:endParaRPr lang="en-US" altLang="pt-BR" sz="2000" b="1" dirty="0">
              <a:latin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51520" y="980728"/>
            <a:ext cx="8640960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 smtClean="0"/>
              <a:t>NÍVEIS </a:t>
            </a:r>
            <a:r>
              <a:rPr lang="pt-BR" sz="1600" b="1" dirty="0"/>
              <a:t>DE </a:t>
            </a:r>
            <a:r>
              <a:rPr lang="pt-BR" sz="1600" b="1" dirty="0" smtClean="0"/>
              <a:t>ACESSO E FUNÇÕES DO SISTEMA DE ACESSO AS VAGAS: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pt-BR" sz="1400" dirty="0" smtClean="0"/>
              <a:t>Perfil COED: acesso a todo sistema, cadastra os demais perfis, aprova a transferência de Comunidade Terapêutica para a Casa de Passagem, aprova inclusão de pessoas nas Repúblicas, aprova a prorrogação em Comunidade Terapêutica e República;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pt-BR" sz="1400" dirty="0" smtClean="0"/>
              <a:t>Perfil OSC Celebrante: acesso a todos sistema exceto o cadastro de perfis, aprova a inclusão de pessoas nas Comunidades Terapêuticas</a:t>
            </a:r>
            <a:r>
              <a:rPr lang="pt-BR" sz="1400" dirty="0"/>
              <a:t>, aprova </a:t>
            </a:r>
            <a:r>
              <a:rPr lang="pt-BR" sz="1400" dirty="0" smtClean="0"/>
              <a:t>em conjunto com a COED a </a:t>
            </a:r>
            <a:r>
              <a:rPr lang="pt-BR" sz="1400" dirty="0"/>
              <a:t>transferência de Comunidade Terapêutica para a Casa de </a:t>
            </a:r>
            <a:r>
              <a:rPr lang="pt-BR" sz="1400" dirty="0" smtClean="0"/>
              <a:t>Passagem, aprova em conjunto com a COED a inclusão de pessoas nas repúblicas, aprova em conjunto com a COED a prorrogação em Comunidade Terapêutica e República;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400" dirty="0" smtClean="0"/>
              <a:t>Perfil Município: solicita vaga em Comunidade Terapêutica com aprovo da OSC Celebrante;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400" dirty="0" smtClean="0"/>
              <a:t>Perfil CRATOD: solicita vaga em Casa de Passagem com acesso imediato, solicita vaga em Comunidade Terapêutica com aprovo da OSC Celebrante, solicita vaga em República com aprovo da COED e OSC Celebrante.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400" dirty="0" smtClean="0"/>
              <a:t>Perfil Comunidade Terapêutica: incluí as vagas disponíveis, aceita os casos dos Município e do CRATOD após aprovo da OSC Celebrante, solicita vaga em República com aprovo da COED e OSC Celebrante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400" dirty="0" smtClean="0"/>
              <a:t>Perfil República: incluí as vagas disponíveis, aceita os casos das Comunidades Terapêuticas e do CRATOD após aprovo COED e OSC Celebrante.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400" dirty="0" smtClean="0"/>
              <a:t>Perfil Casa de Passagem: incluí as vagas disponíveis, aceita os casos do CRATOD de forma imediata, aceita os casos das Comunidades Terapêuticas após aprovo COED e OSC Celebrante, solicita vaga em Repúblicas.</a:t>
            </a:r>
          </a:p>
          <a:p>
            <a:pPr marL="342900" indent="-342900">
              <a:buAutoNum type="arabicPeriod"/>
            </a:pPr>
            <a:endParaRPr lang="pt-BR" sz="1400" dirty="0" smtClean="0"/>
          </a:p>
          <a:p>
            <a:pPr marL="342900" indent="-342900">
              <a:buAutoNum type="arabicPeriod"/>
            </a:pPr>
            <a:endParaRPr lang="pt-BR" sz="1400" dirty="0" smtClean="0"/>
          </a:p>
          <a:p>
            <a:pPr marL="342900" indent="-342900">
              <a:buAutoNum type="arabicPeriod"/>
            </a:pPr>
            <a:endParaRPr lang="pt-BR" sz="1400" dirty="0" smtClean="0"/>
          </a:p>
          <a:p>
            <a:pPr marL="342900" indent="-342900">
              <a:buAutoNum type="arabicPeriod"/>
            </a:pPr>
            <a:endParaRPr lang="pt-BR" sz="1400" dirty="0" smtClean="0"/>
          </a:p>
          <a:p>
            <a:endParaRPr lang="pt-BR" sz="1400" dirty="0"/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7122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6425952"/>
            <a:ext cx="9144000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2857A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292080" y="64533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DESENVOLVIMENTO SOCIAL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414090" y="1033454"/>
            <a:ext cx="81369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DDE40D-4D91-714B-A57F-0B39B1A117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t="31055" r="16138" b="31055"/>
          <a:stretch/>
        </p:blipFill>
        <p:spPr>
          <a:xfrm>
            <a:off x="6516216" y="188639"/>
            <a:ext cx="2136886" cy="8448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14090" y="461066"/>
            <a:ext cx="5886102" cy="62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SISTEMA OU PORTAL RECOMEÇO-SP</a:t>
            </a:r>
            <a:endParaRPr kumimoji="0" lang="en-US" alt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00699" y="1021630"/>
            <a:ext cx="833437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SISTEMA DE GESTÃO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ABA PRESTAÇÃO DE CONTAS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notas fiscais e aba para preenchimento dos valores conforme a rubrica (ação executada pelas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OSCs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*contas aprovadas;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*contas rejeitadas;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* contas glosadas;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* tabela com os valores das contas aprovadas pela COED (acesso público).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QUEM ACESSA: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COED, OSC Celebrante, OSC’s Executoras – Comunidades Terapêuticas, Casa de Passagem, Repúblicas.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QUEM CADASTRA: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COED cadastra OSC Celebrante e a Casa de Passagem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OSC Celebrante cadastra as OSC’s Executoras.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NÍVEIS DE ACESSO E FUNÇÕES: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Perfil COED: aprova, rejeita e glosa as notas e retorna a prestação à OSC Celebrante após análise, edita a tabela de prestação de contas para acesso ao público.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Perfil OSC Celebrante: </a:t>
            </a:r>
            <a:r>
              <a:rPr kumimoji="0" lang="pt-BR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uplod</a:t>
            </a: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notas fiscais, aprova, rejeita e glosa as notas e envia para analise da COED.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Perfil OSC’s Executoras (Comunidade Terapêutica e República) : </a:t>
            </a:r>
            <a:r>
              <a:rPr kumimoji="0" lang="pt-BR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uplod</a:t>
            </a: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notas fiscais e recebe devolutiva da OSC Celebrante;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Perfil OSC Executora (Casa de Passagem): </a:t>
            </a:r>
            <a:r>
              <a:rPr kumimoji="0" lang="pt-BR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uplod</a:t>
            </a:r>
            <a:r>
              <a:rPr kumimoji="0" lang="pt-B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notas fiscais, envia a prestação de contas diretamente para a COED pois não há OSC Celebrante, recebe as devolutivas da COED.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32431" y="3345776"/>
            <a:ext cx="7623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11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6425952"/>
            <a:ext cx="9144000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857A5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292080" y="64533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DESENVOLVIMENTO SOCIAL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414090" y="1033454"/>
            <a:ext cx="81369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DDE40D-4D91-714B-A57F-0B39B1A117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t="31055" r="16138" b="31055"/>
          <a:stretch/>
        </p:blipFill>
        <p:spPr>
          <a:xfrm>
            <a:off x="6516216" y="188639"/>
            <a:ext cx="2136886" cy="8448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14090" y="461066"/>
            <a:ext cx="5886102" cy="62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pt-BR" sz="2000" b="1" dirty="0" smtClean="0">
                <a:latin typeface="Verdana" pitchFamily="34" charset="0"/>
              </a:rPr>
              <a:t>SISTEMA OU PORTAL RECOMEÇO-SP</a:t>
            </a:r>
            <a:endParaRPr lang="en-US" altLang="pt-BR" sz="2000" b="1" dirty="0">
              <a:latin typeface="Verdana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00699" y="1021630"/>
            <a:ext cx="833437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smtClean="0"/>
              <a:t>SISTEMA DE GESTÃO</a:t>
            </a:r>
          </a:p>
          <a:p>
            <a:pPr>
              <a:lnSpc>
                <a:spcPct val="150000"/>
              </a:lnSpc>
            </a:pPr>
            <a:r>
              <a:rPr lang="pt-BR" sz="1400" b="1" dirty="0" smtClean="0"/>
              <a:t>ABA FISCALIZAÇÃO E MONITORAMENTO </a:t>
            </a:r>
            <a:r>
              <a:rPr lang="pt-BR" sz="1400" dirty="0"/>
              <a:t>– </a:t>
            </a:r>
            <a:r>
              <a:rPr lang="pt-BR" sz="1400" dirty="0" err="1" smtClean="0"/>
              <a:t>uplod</a:t>
            </a:r>
            <a:r>
              <a:rPr lang="pt-BR" sz="1400" dirty="0" smtClean="0"/>
              <a:t> de relatórios mensais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	*relatórios </a:t>
            </a:r>
            <a:r>
              <a:rPr lang="pt-BR" sz="1400" dirty="0"/>
              <a:t>de monitoramento;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	* </a:t>
            </a:r>
            <a:r>
              <a:rPr lang="pt-BR" sz="1400" dirty="0"/>
              <a:t>relatórios de fiscalização;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	* </a:t>
            </a:r>
            <a:r>
              <a:rPr lang="pt-BR" sz="1400" dirty="0"/>
              <a:t>plano de providências;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	*</a:t>
            </a:r>
            <a:r>
              <a:rPr lang="pt-BR" sz="1400" dirty="0"/>
              <a:t>aba de aprovação do plano de providências e acompanhamento pela COED. 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QUEM ACESSA: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smtClean="0"/>
              <a:t>COED e OSC Celebrante. 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QUEM CADASTRA: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smtClean="0"/>
              <a:t>COED cadastra OSC Celebrante</a:t>
            </a:r>
          </a:p>
          <a:p>
            <a:pPr>
              <a:lnSpc>
                <a:spcPct val="150000"/>
              </a:lnSpc>
            </a:pPr>
            <a:r>
              <a:rPr lang="pt-BR" sz="1400" dirty="0" smtClean="0"/>
              <a:t>NÍVEIS DE ACESSO E FUNÇÕES: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smtClean="0"/>
              <a:t>Perfil COED: aprova plano de providências e de acompanhamento das OSC’s Executoras (exceto Casa de Passagem); insere os relatórios de fiscalização e monitoramento e os planos de providências e acompanhamento da </a:t>
            </a:r>
            <a:r>
              <a:rPr lang="pt-BR" sz="1400" dirty="0"/>
              <a:t>C</a:t>
            </a:r>
            <a:r>
              <a:rPr lang="pt-BR" sz="1400" dirty="0" smtClean="0"/>
              <a:t>asa de Passagem e da OSC Celebrante.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smtClean="0"/>
              <a:t>Perfil OSC Celebrante</a:t>
            </a:r>
            <a:r>
              <a:rPr lang="pt-BR" sz="1400" dirty="0"/>
              <a:t>: insere os relatórios de fiscalização e monitoramento e os planos de providências e acompanhamento </a:t>
            </a:r>
            <a:r>
              <a:rPr lang="pt-BR" sz="1400" dirty="0" smtClean="0"/>
              <a:t>das OSC’s Executoras com exceção da Casa de Passagem.</a:t>
            </a:r>
          </a:p>
          <a:p>
            <a:endParaRPr lang="pt-BR" sz="1400" dirty="0"/>
          </a:p>
          <a:p>
            <a:endParaRPr lang="pt-BR" sz="1400" dirty="0" smtClean="0"/>
          </a:p>
          <a:p>
            <a:endParaRPr lang="pt-BR" sz="1400" dirty="0"/>
          </a:p>
          <a:p>
            <a:endParaRPr lang="pt-BR" sz="14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332431" y="3345776"/>
            <a:ext cx="7623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722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678</Words>
  <Application>Microsoft Office PowerPoint</Application>
  <PresentationFormat>Apresentação na tela (4:3)</PresentationFormat>
  <Paragraphs>95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 Voxxer</dc:creator>
  <cp:lastModifiedBy>PAULO HENRIQUE BONFIM XAVIER</cp:lastModifiedBy>
  <cp:revision>122</cp:revision>
  <cp:lastPrinted>2022-03-07T22:22:34Z</cp:lastPrinted>
  <dcterms:created xsi:type="dcterms:W3CDTF">2014-07-01T15:16:56Z</dcterms:created>
  <dcterms:modified xsi:type="dcterms:W3CDTF">2022-04-01T20:29:51Z</dcterms:modified>
</cp:coreProperties>
</file>